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9" r:id="rId10"/>
    <p:sldId id="263" r:id="rId11"/>
    <p:sldId id="268" r:id="rId12"/>
    <p:sldId id="264" r:id="rId13"/>
    <p:sldId id="270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97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528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002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10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76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97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86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174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51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85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08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A6D3F-BC35-4CA4-8936-5974752835CF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21EFD-704E-4C0B-BEA2-423066E57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813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3703" y="1340077"/>
            <a:ext cx="9144000" cy="2387600"/>
          </a:xfrm>
        </p:spPr>
        <p:txBody>
          <a:bodyPr/>
          <a:lstStyle/>
          <a:p>
            <a:r>
              <a:rPr lang="en-IN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PRODUCT ANALYTICS FOR </a:t>
            </a:r>
            <a:r>
              <a:rPr lang="en-IN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MeWe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287" y="122602"/>
            <a:ext cx="2010998" cy="20109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78" y="2713402"/>
            <a:ext cx="558845" cy="5588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71657" y="5233851"/>
            <a:ext cx="302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Presented By –Jaya Dev Sahoo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8789" y="3727677"/>
            <a:ext cx="2458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Your Data, Your Rules</a:t>
            </a:r>
            <a:endParaRPr lang="en-IN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82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6106" y="1277471"/>
            <a:ext cx="2613088" cy="523220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IN" sz="2800" dirty="0" smtClean="0"/>
              <a:t>What Is </a:t>
            </a:r>
            <a:r>
              <a:rPr lang="en-US" sz="2800" b="1" dirty="0" err="1"/>
              <a:t>MeWe</a:t>
            </a:r>
            <a:r>
              <a:rPr lang="en-IN" sz="2800" b="1" dirty="0" smtClean="0"/>
              <a:t>?</a:t>
            </a:r>
            <a:r>
              <a:rPr lang="en-IN" sz="2800" dirty="0" smtClean="0"/>
              <a:t> </a:t>
            </a:r>
            <a:endParaRPr lang="en-IN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116106" y="2084294"/>
            <a:ext cx="49485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MeWe</a:t>
            </a:r>
            <a:r>
              <a:rPr lang="en-US" dirty="0"/>
              <a:t> is a next-generation </a:t>
            </a:r>
            <a:r>
              <a:rPr lang="en-US" b="1" dirty="0"/>
              <a:t>privacy-first social network</a:t>
            </a:r>
            <a:r>
              <a:rPr lang="en-US" dirty="0"/>
              <a:t> designed to help people connect and communicate without surveillance, ads, or algorithmic </a:t>
            </a:r>
            <a:r>
              <a:rPr lang="en-US" dirty="0" err="1" smtClean="0"/>
              <a:t>manipulation.Unlike</a:t>
            </a:r>
            <a:r>
              <a:rPr lang="en-US" dirty="0" smtClean="0"/>
              <a:t> </a:t>
            </a:r>
            <a:r>
              <a:rPr lang="en-US" dirty="0"/>
              <a:t>conventional platforms that exploit user data for engagement metrics, </a:t>
            </a:r>
            <a:r>
              <a:rPr lang="en-US" dirty="0" err="1"/>
              <a:t>MeWe</a:t>
            </a:r>
            <a:r>
              <a:rPr lang="en-US" dirty="0"/>
              <a:t> prioritizes </a:t>
            </a:r>
            <a:r>
              <a:rPr lang="en-US" b="1" dirty="0"/>
              <a:t>authentic interaction, trust, and </a:t>
            </a:r>
            <a:r>
              <a:rPr lang="en-US" b="1" dirty="0" err="1" smtClean="0"/>
              <a:t>control.</a:t>
            </a:r>
            <a:r>
              <a:rPr lang="en-US" dirty="0" err="1" smtClean="0"/>
              <a:t>The</a:t>
            </a:r>
            <a:r>
              <a:rPr lang="en-US" dirty="0" smtClean="0"/>
              <a:t> </a:t>
            </a:r>
            <a:r>
              <a:rPr lang="en-US" dirty="0"/>
              <a:t>app offers tools for sharing posts, photos, and messages within trusted circles—fostering a safe, ad-free environment for real conversations and meaningful relationships.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9081" y="2404335"/>
            <a:ext cx="3081613" cy="523220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IN" sz="2800" b="1" dirty="0"/>
              <a:t>P</a:t>
            </a:r>
            <a:r>
              <a:rPr lang="en-IN" sz="2800" b="1" dirty="0" smtClean="0"/>
              <a:t>roblem </a:t>
            </a:r>
            <a:r>
              <a:rPr lang="en-IN" sz="2800" b="1" dirty="0"/>
              <a:t>S</a:t>
            </a:r>
            <a:r>
              <a:rPr lang="en-IN" sz="2800" b="1" dirty="0" smtClean="0"/>
              <a:t>tatement</a:t>
            </a:r>
            <a:endParaRPr lang="en-IN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7570694" y="3079376"/>
            <a:ext cx="40834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social media platforms today optimize for </a:t>
            </a:r>
            <a:r>
              <a:rPr lang="en-US" b="1" dirty="0"/>
              <a:t>advertising revenue and screen time</a:t>
            </a:r>
            <a:r>
              <a:rPr lang="en-US" dirty="0"/>
              <a:t>, leading to privacy erosion, misinformation, and shallow </a:t>
            </a:r>
            <a:r>
              <a:rPr lang="en-US" dirty="0" err="1" smtClean="0"/>
              <a:t>engagement.Users</a:t>
            </a:r>
            <a:r>
              <a:rPr lang="en-US" dirty="0" smtClean="0"/>
              <a:t> </a:t>
            </a:r>
            <a:r>
              <a:rPr lang="en-US" dirty="0"/>
              <a:t>feel increasingly </a:t>
            </a:r>
            <a:r>
              <a:rPr lang="en-US" b="1" dirty="0"/>
              <a:t>watched, manipulated, and fatigued</a:t>
            </a:r>
            <a:r>
              <a:rPr lang="en-US" dirty="0"/>
              <a:t> by algorithm-driven </a:t>
            </a:r>
            <a:r>
              <a:rPr lang="en-US" dirty="0" err="1" smtClean="0"/>
              <a:t>feeds.There</a:t>
            </a:r>
            <a:r>
              <a:rPr lang="en-US" dirty="0" smtClean="0"/>
              <a:t> </a:t>
            </a:r>
            <a:r>
              <a:rPr lang="en-US" dirty="0"/>
              <a:t>is a strong need for a </a:t>
            </a:r>
            <a:r>
              <a:rPr lang="en-US" b="1" dirty="0"/>
              <a:t>transparent, community-based social platform</a:t>
            </a:r>
            <a:r>
              <a:rPr lang="en-US" dirty="0"/>
              <a:t> that promotes authentic communication and empowers users to own their data—free from corporate interference.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1724" y="623432"/>
            <a:ext cx="3441711" cy="523220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IN" sz="2800" dirty="0" err="1" smtClean="0"/>
              <a:t>MeWe</a:t>
            </a:r>
            <a:r>
              <a:rPr lang="en-IN" sz="2800" b="1" dirty="0" err="1" smtClean="0"/>
              <a:t>’s</a:t>
            </a:r>
            <a:r>
              <a:rPr lang="en-IN" sz="2800" b="1" dirty="0" smtClean="0"/>
              <a:t> Core Feature</a:t>
            </a:r>
            <a:r>
              <a:rPr lang="en-IN" sz="2800" dirty="0" smtClean="0"/>
              <a:t> </a:t>
            </a:r>
            <a:endParaRPr lang="en-IN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89407"/>
              </p:ext>
            </p:extLst>
          </p:nvPr>
        </p:nvGraphicFramePr>
        <p:xfrm>
          <a:off x="838200" y="1852454"/>
          <a:ext cx="10515600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Feature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Description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Ad-Free Feed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Pure, chronological posts—no data mining or ad tracking.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Privacy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permissions for posts, chats, and groups.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Encrypted Messaging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Secure, end-to-end encrypted communication between users.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Customizable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Community hubs for shared interests with moderation tools.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Cloud Storage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8GB of private storage for photos and files.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No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User feeds are chronological, ensuring authentic content visibility.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Community Engagement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Features for polls, group events, and shared discussions.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68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9452" y="969759"/>
            <a:ext cx="11322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privacy concerns and data misuse scandals rising globally, users are turning toward ethical, non-surveillance-based platforms like </a:t>
            </a:r>
            <a:r>
              <a:rPr lang="en-US" dirty="0" err="1"/>
              <a:t>MeWe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86185" y="446539"/>
            <a:ext cx="4155781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MARKET  OPPORTUNITY</a:t>
            </a:r>
            <a:endParaRPr lang="en-IN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019041" y="1903506"/>
            <a:ext cx="1910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Key metrics</a:t>
            </a:r>
            <a:endParaRPr lang="en-IN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801188" y="2647406"/>
            <a:ext cx="5172891" cy="40420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01188" y="2799277"/>
            <a:ext cx="517289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Size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social media market revenue is large (hundreds of billions, with estimates around $307–$341 billion in 2025), highlighting significant revenue opportunity for new platforms.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CAGR (Growth Rate)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industry is projected to grow at a healthy CAGR of approximately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13%–17%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2030, indicating sustained expansion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Active Users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Over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5.4 billion people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active on social media globally, representing about two‑thirds of the world’s population. </a:t>
            </a:r>
          </a:p>
        </p:txBody>
      </p:sp>
      <p:sp>
        <p:nvSpPr>
          <p:cNvPr id="9" name="Rectangle 8"/>
          <p:cNvSpPr/>
          <p:nvPr/>
        </p:nvSpPr>
        <p:spPr>
          <a:xfrm>
            <a:off x="6775268" y="2647406"/>
            <a:ext cx="4706983" cy="3971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775268" y="2799277"/>
            <a:ext cx="470698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Time Spent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Users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~140 minutes per day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social platforms, reflecting strong engagement opportunities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Over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social media users access platforms via smartphones—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MeWe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fully mobile-optimized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Revenue Direction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While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ad-driven models dominate,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MeWe’s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and freemium model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taps into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demand for ad-free experiences.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71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350" y="367680"/>
            <a:ext cx="4216741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b="1" dirty="0"/>
              <a:t>USER BEHAVIOUR TRENDS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44895"/>
              </p:ext>
            </p:extLst>
          </p:nvPr>
        </p:nvGraphicFramePr>
        <p:xfrm>
          <a:off x="888275" y="1306286"/>
          <a:ext cx="10389324" cy="519901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63108"/>
                <a:gridCol w="3463108"/>
                <a:gridCol w="3463108"/>
              </a:tblGrid>
              <a:tr h="392378">
                <a:tc>
                  <a:txBody>
                    <a:bodyPr/>
                    <a:lstStyle/>
                    <a:p>
                      <a:r>
                        <a:rPr lang="en-IN" sz="2000" dirty="0"/>
                        <a:t>Observed Behaviour</a:t>
                      </a:r>
                    </a:p>
                  </a:txBody>
                  <a:tcPr marL="82101" marR="82101" marT="41050" marB="41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 Point / Insight</a:t>
                      </a:r>
                    </a:p>
                  </a:txBody>
                  <a:tcPr marL="82101" marR="82101" marT="41050" marB="41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Implication for </a:t>
                      </a:r>
                      <a:r>
                        <a:rPr lang="en-IN" sz="2000" dirty="0" err="1"/>
                        <a:t>MeWe</a:t>
                      </a:r>
                      <a:endParaRPr lang="en-IN" sz="2000" dirty="0"/>
                    </a:p>
                  </a:txBody>
                  <a:tcPr marL="82101" marR="82101" marT="41050" marB="41050" anchor="ctr">
                    <a:solidFill>
                      <a:srgbClr val="FFC000"/>
                    </a:solidFill>
                  </a:tcPr>
                </a:tc>
              </a:tr>
              <a:tr h="686663">
                <a:tc>
                  <a:txBody>
                    <a:bodyPr/>
                    <a:lstStyle/>
                    <a:p>
                      <a:r>
                        <a:rPr lang="en-IN" sz="1600"/>
                        <a:t>Privacy-first mindset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74% of users worry about online data misuse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Reinforce trust through transparency and encryption</a:t>
                      </a:r>
                    </a:p>
                  </a:txBody>
                  <a:tcPr marL="82101" marR="82101" marT="41050" marB="41050" anchor="ctr"/>
                </a:tc>
              </a:tr>
              <a:tr h="686663">
                <a:tc>
                  <a:txBody>
                    <a:bodyPr/>
                    <a:lstStyle/>
                    <a:p>
                      <a:r>
                        <a:rPr lang="en-IN" sz="1600"/>
                        <a:t>Desire for ad-free experience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Over 60% of users install ad blockers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MeWe’s no-ad promise becomes its core USP</a:t>
                      </a:r>
                    </a:p>
                  </a:txBody>
                  <a:tcPr marL="82101" marR="82101" marT="41050" marB="41050" anchor="ctr"/>
                </a:tc>
              </a:tr>
              <a:tr h="686663">
                <a:tc>
                  <a:txBody>
                    <a:bodyPr/>
                    <a:lstStyle/>
                    <a:p>
                      <a:r>
                        <a:rPr lang="en-IN" sz="1600"/>
                        <a:t>Shift toward meaningful connections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Users prefer close-group interactions over public posts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Focus on private groups and small communities</a:t>
                      </a:r>
                    </a:p>
                  </a:txBody>
                  <a:tcPr marL="82101" marR="82101" marT="41050" marB="41050" anchor="ctr"/>
                </a:tc>
              </a:tr>
              <a:tr h="686663">
                <a:tc>
                  <a:txBody>
                    <a:bodyPr/>
                    <a:lstStyle/>
                    <a:p>
                      <a:r>
                        <a:rPr lang="en-IN" sz="1600"/>
                        <a:t>Fatigue from algorithmic feeds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68% of users distrust algorithm-based suggestions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Maintain chronological, user-controlled feed</a:t>
                      </a:r>
                    </a:p>
                  </a:txBody>
                  <a:tcPr marL="82101" marR="82101" marT="41050" marB="41050" anchor="ctr"/>
                </a:tc>
              </a:tr>
              <a:tr h="686663">
                <a:tc>
                  <a:txBody>
                    <a:bodyPr/>
                    <a:lstStyle/>
                    <a:p>
                      <a:r>
                        <a:rPr lang="en-IN" sz="1600"/>
                        <a:t>Increasing mobile dependency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90%+ users access social platforms via mobile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Prioritize intuitive mobile UX</a:t>
                      </a:r>
                    </a:p>
                  </a:txBody>
                  <a:tcPr marL="82101" marR="82101" marT="41050" marB="41050" anchor="ctr"/>
                </a:tc>
              </a:tr>
              <a:tr h="686663">
                <a:tc>
                  <a:txBody>
                    <a:bodyPr/>
                    <a:lstStyle/>
                    <a:p>
                      <a:r>
                        <a:rPr lang="en-IN" sz="1600"/>
                        <a:t>Growth of ethical tech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Rising adoption of privacy apps and messengers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Position MeWe as a leader in “ethical social networking”</a:t>
                      </a:r>
                    </a:p>
                  </a:txBody>
                  <a:tcPr marL="82101" marR="82101" marT="41050" marB="41050" anchor="ctr"/>
                </a:tc>
              </a:tr>
              <a:tr h="686663">
                <a:tc>
                  <a:txBody>
                    <a:bodyPr/>
                    <a:lstStyle/>
                    <a:p>
                      <a:r>
                        <a:rPr lang="en-IN" sz="1600"/>
                        <a:t>Subscription acceptance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Freemium models gaining popularity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Monetize ethically through premium cloud features</a:t>
                      </a:r>
                    </a:p>
                  </a:txBody>
                  <a:tcPr marL="82101" marR="82101" marT="41050" marB="41050" anchor="ctr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224" y="-32561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54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3965" y="411983"/>
            <a:ext cx="6996332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MARKET BENCHMARKING AND STRATEGIC </a:t>
            </a:r>
            <a:r>
              <a:rPr lang="en-US" sz="2800" b="1" dirty="0" smtClean="0"/>
              <a:t>FIT</a:t>
            </a: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590742"/>
              </p:ext>
            </p:extLst>
          </p:nvPr>
        </p:nvGraphicFramePr>
        <p:xfrm>
          <a:off x="823965" y="1584960"/>
          <a:ext cx="10529835" cy="42259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9945"/>
                <a:gridCol w="3509945"/>
                <a:gridCol w="3509945"/>
              </a:tblGrid>
              <a:tr h="430709">
                <a:tc>
                  <a:txBody>
                    <a:bodyPr/>
                    <a:lstStyle/>
                    <a:p>
                      <a:r>
                        <a:rPr lang="en-IN" sz="2400" b="1" dirty="0"/>
                        <a:t>2026 Trend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Key Insight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Strategic Fit for </a:t>
                      </a:r>
                      <a:r>
                        <a:rPr lang="en-IN" sz="2400" b="1" dirty="0" err="1"/>
                        <a:t>MeWe</a:t>
                      </a:r>
                      <a:endParaRPr lang="en-IN" sz="24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753741">
                <a:tc>
                  <a:txBody>
                    <a:bodyPr/>
                    <a:lstStyle/>
                    <a:p>
                      <a:r>
                        <a:rPr lang="en-IN"/>
                        <a:t>Privacy and security revolution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leaks drive user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MeWe’s encrypted, ad-free platform fits perfectly</a:t>
                      </a:r>
                    </a:p>
                  </a:txBody>
                  <a:tcPr anchor="ctr"/>
                </a:tc>
              </a:tr>
              <a:tr h="753741">
                <a:tc>
                  <a:txBody>
                    <a:bodyPr/>
                    <a:lstStyle/>
                    <a:p>
                      <a:r>
                        <a:rPr lang="en-US"/>
                        <a:t>Rise of decentralized social 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Users seek control and autonomy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MeWe’s privacy-driven architecture aligns with user expectations</a:t>
                      </a:r>
                    </a:p>
                  </a:txBody>
                  <a:tcPr anchor="ctr"/>
                </a:tc>
              </a:tr>
              <a:tr h="753741">
                <a:tc>
                  <a:txBody>
                    <a:bodyPr/>
                    <a:lstStyle/>
                    <a:p>
                      <a:r>
                        <a:rPr lang="en-US"/>
                        <a:t>Trust as a brand currency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Ethical platforms outperform ad-driven 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MeWe builds brand loyalty through transparency</a:t>
                      </a:r>
                    </a:p>
                  </a:txBody>
                  <a:tcPr anchor="ctr"/>
                </a:tc>
              </a:tr>
              <a:tr h="753741">
                <a:tc>
                  <a:txBody>
                    <a:bodyPr/>
                    <a:lstStyle/>
                    <a:p>
                      <a:r>
                        <a:rPr lang="en-IN"/>
                        <a:t>Subscription economy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Users willing to pay for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MeWe</a:t>
                      </a:r>
                      <a:r>
                        <a:rPr lang="en-US" dirty="0"/>
                        <a:t> monetizes ethically via premium upgrades</a:t>
                      </a:r>
                    </a:p>
                  </a:txBody>
                  <a:tcPr anchor="ctr"/>
                </a:tc>
              </a:tr>
              <a:tr h="753741">
                <a:tc>
                  <a:txBody>
                    <a:bodyPr/>
                    <a:lstStyle/>
                    <a:p>
                      <a:r>
                        <a:rPr lang="en-IN"/>
                        <a:t>Mental health awareness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Users seek less-toxic social environments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Ad-free design supports digital well-being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4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932" y="602901"/>
            <a:ext cx="5430333" cy="52322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IN" sz="2800" b="1" dirty="0"/>
              <a:t>TARGET AUDIENCE </a:t>
            </a:r>
            <a:r>
              <a:rPr lang="en-IN" sz="2800" b="1" dirty="0" smtClean="0"/>
              <a:t>SEGMENTATION</a:t>
            </a:r>
            <a:endParaRPr lang="en-IN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424226"/>
              </p:ext>
            </p:extLst>
          </p:nvPr>
        </p:nvGraphicFramePr>
        <p:xfrm>
          <a:off x="838200" y="2098766"/>
          <a:ext cx="10413273" cy="41801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71091"/>
                <a:gridCol w="3471091"/>
                <a:gridCol w="3471091"/>
              </a:tblGrid>
              <a:tr h="539370">
                <a:tc>
                  <a:txBody>
                    <a:bodyPr/>
                    <a:lstStyle/>
                    <a:p>
                      <a:r>
                        <a:rPr lang="en-IN" sz="2400" b="1" dirty="0"/>
                        <a:t>Segment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Profile &amp; </a:t>
                      </a:r>
                      <a:r>
                        <a:rPr lang="en-IN" sz="2400" b="1" dirty="0" err="1"/>
                        <a:t>Behavior</a:t>
                      </a:r>
                      <a:endParaRPr lang="en-IN" sz="2400" b="1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What They Drive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</a:tr>
              <a:tr h="1348424">
                <a:tc>
                  <a:txBody>
                    <a:bodyPr/>
                    <a:lstStyle/>
                    <a:p>
                      <a:r>
                        <a:rPr lang="en-IN"/>
                        <a:t>Primary: Privacy Advocates (25–40)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Tech-aware users valuing data protection and ad-free experiences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Premium subscription growth</a:t>
                      </a:r>
                    </a:p>
                  </a:txBody>
                  <a:tcPr anchor="ctr"/>
                </a:tc>
              </a:tr>
              <a:tr h="943896">
                <a:tc>
                  <a:txBody>
                    <a:bodyPr/>
                    <a:lstStyle/>
                    <a:p>
                      <a:r>
                        <a:rPr lang="en-IN"/>
                        <a:t>Secondary: Conscious Professionals (30–45)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Working individuals seeking distraction-free social circles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Retention and trust</a:t>
                      </a:r>
                    </a:p>
                  </a:txBody>
                  <a:tcPr anchor="ctr"/>
                </a:tc>
              </a:tr>
              <a:tr h="1348424">
                <a:tc>
                  <a:txBody>
                    <a:bodyPr/>
                    <a:lstStyle/>
                    <a:p>
                      <a:r>
                        <a:rPr lang="en-IN"/>
                        <a:t>Tertiary: Digital Minimalists (18–30)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Gen Z and Millennials leaving algorithm-heavy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Organic adoption and engagement depth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63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83" y="489689"/>
            <a:ext cx="5010108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What is the HEART Framework ?</a:t>
            </a:r>
            <a:endParaRPr lang="en-I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64029" y="3019529"/>
            <a:ext cx="4313810" cy="52322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Why heart works for </a:t>
            </a:r>
            <a:r>
              <a:rPr lang="en-US" sz="2800" b="1" dirty="0" err="1" smtClean="0"/>
              <a:t>MeWe</a:t>
            </a:r>
            <a:endParaRPr lang="en-IN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67582" y="1249814"/>
            <a:ext cx="48968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HEART Framework</a:t>
            </a:r>
            <a:r>
              <a:rPr lang="en-US" dirty="0"/>
              <a:t> is a user-centered model measuring product success across </a:t>
            </a:r>
            <a:r>
              <a:rPr lang="en-US" b="1" dirty="0"/>
              <a:t>Happiness, Engagement, Adoption, Retention, and Task Success</a:t>
            </a:r>
            <a:r>
              <a:rPr lang="en-US" dirty="0"/>
              <a:t>, combining behavioral data and user experience to evaluate satisfaction and long-term value.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864029" y="3872439"/>
            <a:ext cx="4849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HEART framework works for </a:t>
            </a:r>
            <a:r>
              <a:rPr lang="en-US" b="1" dirty="0" err="1"/>
              <a:t>MeWe</a:t>
            </a:r>
            <a:r>
              <a:rPr lang="en-US" dirty="0"/>
              <a:t> because it measures authentic engagement, user trust, and satisfaction without relying on ads or algorithms. It aligns with </a:t>
            </a:r>
            <a:r>
              <a:rPr lang="en-US" dirty="0" err="1"/>
              <a:t>MeWe’s</a:t>
            </a:r>
            <a:r>
              <a:rPr lang="en-US" dirty="0"/>
              <a:t> privacy-first vision, balancing behavioral insights with emotional value to improve long-term retention and experience.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22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24932" y="602901"/>
            <a:ext cx="1835374" cy="52322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HEAT MAP </a:t>
            </a:r>
            <a:endParaRPr lang="en-IN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955" y="1683803"/>
            <a:ext cx="4476204" cy="26857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202" y="1809860"/>
            <a:ext cx="628640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Insights </a:t>
            </a:r>
            <a:r>
              <a:rPr lang="en-US" sz="2000" b="1" dirty="0"/>
              <a:t>from the Heat Map: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Engagement Rate</a:t>
            </a:r>
            <a:r>
              <a:rPr lang="en-US" dirty="0"/>
              <a:t> strongly correlates with </a:t>
            </a:r>
            <a:r>
              <a:rPr lang="en-US" b="1" dirty="0"/>
              <a:t>likes and shares</a:t>
            </a:r>
            <a:r>
              <a:rPr lang="en-US" dirty="0"/>
              <a:t>, indicating that user activity scales with interactive actions rather than passive views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Virality</a:t>
            </a:r>
            <a:r>
              <a:rPr lang="en-US" b="1" dirty="0"/>
              <a:t> Score</a:t>
            </a:r>
            <a:r>
              <a:rPr lang="en-US" dirty="0"/>
              <a:t> is positively tied to </a:t>
            </a:r>
            <a:r>
              <a:rPr lang="en-US" b="1" dirty="0"/>
              <a:t>shares and comments</a:t>
            </a:r>
            <a:r>
              <a:rPr lang="en-US" dirty="0"/>
              <a:t>, meaning posts with higher discussion rates spread faster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Category Sentiment Index</a:t>
            </a:r>
            <a:r>
              <a:rPr lang="en-US" dirty="0"/>
              <a:t> shows mild correlation with </a:t>
            </a:r>
            <a:r>
              <a:rPr lang="en-US" b="1" dirty="0"/>
              <a:t>engagement rate</a:t>
            </a:r>
            <a:r>
              <a:rPr lang="en-US" dirty="0"/>
              <a:t>, suggesting emotional tone influences interaction quality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Likes and comments</a:t>
            </a:r>
            <a:r>
              <a:rPr lang="en-US" dirty="0"/>
              <a:t> move together moderately, showing balanced engagement across reactions and discussions.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71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3530" y="482321"/>
            <a:ext cx="5052537" cy="523220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IN" sz="2800" b="1" dirty="0"/>
              <a:t>HEART FRAMEWORK FOR </a:t>
            </a:r>
            <a:r>
              <a:rPr lang="en-IN" sz="2800" b="1" dirty="0" err="1" smtClean="0"/>
              <a:t>MeWe</a:t>
            </a:r>
            <a:endParaRPr lang="en-IN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081778"/>
              </p:ext>
            </p:extLst>
          </p:nvPr>
        </p:nvGraphicFramePr>
        <p:xfrm>
          <a:off x="892168" y="1809098"/>
          <a:ext cx="10425080" cy="44148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5016"/>
                <a:gridCol w="2085016"/>
                <a:gridCol w="2085016"/>
                <a:gridCol w="2085016"/>
                <a:gridCol w="2085016"/>
              </a:tblGrid>
              <a:tr h="362611">
                <a:tc>
                  <a:txBody>
                    <a:bodyPr/>
                    <a:lstStyle/>
                    <a:p>
                      <a:r>
                        <a:rPr lang="en-IN" sz="2000" b="1" dirty="0"/>
                        <a:t>Aspect</a:t>
                      </a:r>
                    </a:p>
                  </a:txBody>
                  <a:tcPr marL="90653" marR="90653" marT="45326" marB="45326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Goal</a:t>
                      </a:r>
                    </a:p>
                  </a:txBody>
                  <a:tcPr marL="90653" marR="90653" marT="45326" marB="45326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Signals</a:t>
                      </a:r>
                    </a:p>
                  </a:txBody>
                  <a:tcPr marL="90653" marR="90653" marT="45326" marB="45326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Metrics</a:t>
                      </a:r>
                    </a:p>
                  </a:txBody>
                  <a:tcPr marL="90653" marR="90653" marT="45326" marB="45326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Why It Matters</a:t>
                      </a:r>
                    </a:p>
                  </a:txBody>
                  <a:tcPr marL="90653" marR="90653" marT="45326" marB="45326" anchor="ctr">
                    <a:solidFill>
                      <a:srgbClr val="FFC000"/>
                    </a:solidFill>
                  </a:tcPr>
                </a:tc>
              </a:tr>
              <a:tr h="906529">
                <a:tc>
                  <a:txBody>
                    <a:bodyPr/>
                    <a:lstStyle/>
                    <a:p>
                      <a:r>
                        <a:rPr lang="en-IN" sz="1800" dirty="0"/>
                        <a:t>H – Happiness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Build trust and satisfaction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Positive reviews, repeat visits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NPS ≥ 60, CSAT ≥ 75%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Reflects user confidence in privacy &amp; control</a:t>
                      </a:r>
                    </a:p>
                  </a:txBody>
                  <a:tcPr marL="90653" marR="90653" marT="45326" marB="45326" anchor="ctr"/>
                </a:tc>
              </a:tr>
              <a:tr h="906529">
                <a:tc>
                  <a:txBody>
                    <a:bodyPr/>
                    <a:lstStyle/>
                    <a:p>
                      <a:r>
                        <a:rPr lang="en-IN" sz="1800"/>
                        <a:t>E – Engagement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Encourage active, authentic use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Posts, shares, group messages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DEU ≥ 25%, 2+ actions/day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Measures meaningful participation</a:t>
                      </a:r>
                    </a:p>
                  </a:txBody>
                  <a:tcPr marL="90653" marR="90653" marT="45326" marB="45326" anchor="ctr"/>
                </a:tc>
              </a:tr>
              <a:tr h="634570">
                <a:tc>
                  <a:txBody>
                    <a:bodyPr/>
                    <a:lstStyle/>
                    <a:p>
                      <a:r>
                        <a:rPr lang="en-IN" sz="1800"/>
                        <a:t>A – Adoption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Smooth onboarding &amp; first use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Account creation, first post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Day-1 activation ≥ 45%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Early engagement predicts loyalty</a:t>
                      </a:r>
                    </a:p>
                  </a:txBody>
                  <a:tcPr marL="90653" marR="90653" marT="45326" marB="45326" anchor="ctr"/>
                </a:tc>
              </a:tr>
              <a:tr h="634570">
                <a:tc>
                  <a:txBody>
                    <a:bodyPr/>
                    <a:lstStyle/>
                    <a:p>
                      <a:r>
                        <a:rPr lang="en-IN" sz="1800"/>
                        <a:t>R – Retention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Sustain user relationships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D7 &amp; D30 repeat activity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D7 ≥ 20%, D30 ≥ 15%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Ensures ongoing satisfaction &amp; trust</a:t>
                      </a:r>
                    </a:p>
                  </a:txBody>
                  <a:tcPr marL="90653" marR="90653" marT="45326" marB="45326" anchor="ctr"/>
                </a:tc>
              </a:tr>
              <a:tr h="906529">
                <a:tc>
                  <a:txBody>
                    <a:bodyPr/>
                    <a:lstStyle/>
                    <a:p>
                      <a:r>
                        <a:rPr lang="en-IN" sz="1800"/>
                        <a:t>T – Task Success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Ensure frictionless UX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Successful post/share rate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≥ 90% success rate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Indicates platform usability and reliability</a:t>
                      </a:r>
                    </a:p>
                  </a:txBody>
                  <a:tcPr marL="90653" marR="90653" marT="45326" marB="45326" anchor="ctr"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3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3530" y="308149"/>
            <a:ext cx="4475521" cy="523220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/>
              <a:t>Core reasons for using HEART</a:t>
            </a:r>
            <a:endParaRPr lang="en-IN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33529" y="1149530"/>
            <a:ext cx="1043085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Aligns </a:t>
            </a:r>
            <a:r>
              <a:rPr lang="en-US" sz="2000" b="1" dirty="0"/>
              <a:t>with </a:t>
            </a:r>
            <a:r>
              <a:rPr lang="en-US" sz="2000" b="1" dirty="0" err="1"/>
              <a:t>MeWe’s</a:t>
            </a:r>
            <a:r>
              <a:rPr lang="en-US" sz="2000" b="1" dirty="0"/>
              <a:t> Privacy-First and User-Centric </a:t>
            </a:r>
            <a:r>
              <a:rPr lang="en-US" sz="2000" b="1" dirty="0" err="1" smtClean="0"/>
              <a:t>Vision:</a:t>
            </a:r>
            <a:r>
              <a:rPr lang="en-US" dirty="0" err="1" smtClean="0"/>
              <a:t>HEART</a:t>
            </a:r>
            <a:r>
              <a:rPr lang="en-US" dirty="0" smtClean="0"/>
              <a:t> </a:t>
            </a:r>
            <a:r>
              <a:rPr lang="en-US" dirty="0"/>
              <a:t>focuses on user satisfaction and engagement quality, not vanity </a:t>
            </a:r>
            <a:r>
              <a:rPr lang="en-US" dirty="0" err="1" smtClean="0"/>
              <a:t>metrics.This</a:t>
            </a:r>
            <a:r>
              <a:rPr lang="en-US" dirty="0" smtClean="0"/>
              <a:t> </a:t>
            </a:r>
            <a:r>
              <a:rPr lang="en-US" dirty="0"/>
              <a:t>aligns perfectly with </a:t>
            </a:r>
            <a:r>
              <a:rPr lang="en-US" dirty="0" err="1"/>
              <a:t>MeWe’s</a:t>
            </a:r>
            <a:r>
              <a:rPr lang="en-US" dirty="0"/>
              <a:t> mission to build trust, authenticity, and meaningful communication instead of chasing screen time or 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/>
              <a:t>Balances </a:t>
            </a:r>
            <a:r>
              <a:rPr lang="en-US" sz="2000" b="1" dirty="0"/>
              <a:t>Quantitative Data with Emotional </a:t>
            </a:r>
            <a:r>
              <a:rPr lang="en-US" sz="2000" b="1" dirty="0" err="1" smtClean="0"/>
              <a:t>Insight:</a:t>
            </a:r>
            <a:r>
              <a:rPr lang="en-US" dirty="0" err="1" smtClean="0"/>
              <a:t>HEART</a:t>
            </a:r>
            <a:r>
              <a:rPr lang="en-US" dirty="0" smtClean="0"/>
              <a:t> </a:t>
            </a:r>
            <a:r>
              <a:rPr lang="en-US" dirty="0"/>
              <a:t>combines behavioral metrics (likes, shares, comments) with sentiment and satisfaction data, helping </a:t>
            </a:r>
            <a:r>
              <a:rPr lang="en-US" dirty="0" err="1"/>
              <a:t>MeWe</a:t>
            </a:r>
            <a:r>
              <a:rPr lang="en-US" dirty="0"/>
              <a:t> measure both what users do and how they feel — critical for a privacy-driven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Tracks </a:t>
            </a:r>
            <a:r>
              <a:rPr lang="en-US" b="1" dirty="0"/>
              <a:t>Long-Term Value Over Short-Term </a:t>
            </a:r>
            <a:r>
              <a:rPr lang="en-US" b="1" dirty="0" err="1" smtClean="0"/>
              <a:t>Reach:</a:t>
            </a:r>
            <a:r>
              <a:rPr lang="en-US" dirty="0" err="1" smtClean="0"/>
              <a:t>Unlike</a:t>
            </a:r>
            <a:r>
              <a:rPr lang="en-US" dirty="0" smtClean="0"/>
              <a:t> </a:t>
            </a:r>
            <a:r>
              <a:rPr lang="en-US" dirty="0"/>
              <a:t>traditional KPIs, HEART emphasizes retention, happiness, and repeat engagement, ensuring </a:t>
            </a:r>
            <a:r>
              <a:rPr lang="en-US" dirty="0" err="1"/>
              <a:t>MeWe</a:t>
            </a:r>
            <a:r>
              <a:rPr lang="en-US" dirty="0"/>
              <a:t> grows sustainably by deepening user relationships, not just increasing sign-ups.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Supports </a:t>
            </a:r>
            <a:r>
              <a:rPr lang="en-US" b="1" dirty="0"/>
              <a:t>Early Product Evaluation and </a:t>
            </a:r>
            <a:r>
              <a:rPr lang="en-US" b="1" dirty="0" err="1" smtClean="0"/>
              <a:t>Improvement:</a:t>
            </a:r>
            <a:r>
              <a:rPr lang="en-US" dirty="0" err="1" smtClean="0"/>
              <a:t>By</a:t>
            </a:r>
            <a:r>
              <a:rPr lang="en-US" dirty="0" smtClean="0"/>
              <a:t> </a:t>
            </a:r>
            <a:r>
              <a:rPr lang="en-US" dirty="0"/>
              <a:t>mapping engagement, adoption, and task success, </a:t>
            </a:r>
            <a:r>
              <a:rPr lang="en-US" dirty="0" err="1"/>
              <a:t>MeWe</a:t>
            </a:r>
            <a:r>
              <a:rPr lang="en-US" dirty="0"/>
              <a:t> can quickly identify UX friction, improve onboarding, and enhance user experience — all while maintaining its ad-free ethical model.</a:t>
            </a:r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738" y="0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8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046" y="552659"/>
            <a:ext cx="3321743" cy="523220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IN" sz="2800" b="1" dirty="0"/>
              <a:t>NORTH STAR </a:t>
            </a:r>
            <a:r>
              <a:rPr lang="en-IN" sz="2800" b="1" dirty="0" smtClean="0"/>
              <a:t>METRIC</a:t>
            </a:r>
            <a:endParaRPr lang="en-I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24448" y="1274130"/>
            <a:ext cx="103183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North Star Metric:</a:t>
            </a:r>
            <a:r>
              <a:rPr lang="en-US" dirty="0"/>
              <a:t> </a:t>
            </a:r>
            <a:r>
              <a:rPr lang="en-US" i="1" dirty="0"/>
              <a:t>Daily Engaged Users (DEU)</a:t>
            </a:r>
            <a:endParaRPr lang="en-US" dirty="0"/>
          </a:p>
          <a:p>
            <a:r>
              <a:rPr lang="en-US" b="1" dirty="0"/>
              <a:t>Definition: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Unique users performing at least one meaningful, privacy-respecting interaction (post, comment, group share, or message) per day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Why It Matters</a:t>
            </a:r>
            <a:r>
              <a:rPr lang="en-US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DEU </a:t>
            </a:r>
            <a:r>
              <a:rPr lang="en-US" dirty="0"/>
              <a:t>represents </a:t>
            </a:r>
            <a:r>
              <a:rPr lang="en-US" b="1" dirty="0"/>
              <a:t>active participation and trust</a:t>
            </a:r>
            <a:r>
              <a:rPr lang="en-US" dirty="0"/>
              <a:t>, not passive presence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connects daily engagement quality with long-term retention and subscription </a:t>
            </a:r>
            <a:r>
              <a:rPr lang="en-US" dirty="0" smtClean="0"/>
              <a:t>growth.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Supporting Sub-Metrics: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Engagement rate (active vs. total users)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Avg. group participation per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Engagement mix (posts, chats, shares)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Subscription conversion ratio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92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046" y="552659"/>
            <a:ext cx="2101344" cy="523220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DASHBOARD</a:t>
            </a:r>
            <a:endParaRPr lang="en-IN" sz="2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6" y="1348604"/>
            <a:ext cx="2791049" cy="18038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360" y="1348604"/>
            <a:ext cx="2819537" cy="18223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344" y="1305061"/>
            <a:ext cx="2858420" cy="18474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6" y="3917631"/>
            <a:ext cx="2871895" cy="18561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4931" y="5773782"/>
            <a:ext cx="1025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Dataset Link</a:t>
            </a:r>
            <a:r>
              <a:rPr lang="en-IN" dirty="0"/>
              <a:t>: https://docs.google.com/spreadsheets/d/1NBTwTr40B2iOy1D6f_aHZtjxhVBtUkWXo5ImQN58pzU/edit?usp=sharing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509" y="0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604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3868" y="522515"/>
            <a:ext cx="6371995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sz="2800" b="1" dirty="0"/>
              <a:t>KEY INSIGHTS AND STRATEGIC </a:t>
            </a:r>
            <a:r>
              <a:rPr lang="en-US" sz="2800" b="1" dirty="0" smtClean="0"/>
              <a:t>DIRECTION</a:t>
            </a:r>
            <a:endParaRPr lang="en-US" sz="28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47300" y="1687676"/>
            <a:ext cx="92963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Activation quality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early engagement depth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predict long-term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Users who interact with 3+ features in their first week are 2× more likely to return.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Privacy-first transparency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improves trust and brand perception, especially among professionals.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AI-assisted personalization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increases relevance while preventing content fatigue.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Focus Mode and Community Circles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promote healthy engagement and sustained connections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83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3869" y="522515"/>
            <a:ext cx="5657892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IN" sz="2800" b="1" dirty="0"/>
              <a:t>STRATEGIC FOCUS GOING FORWARD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61554" y="1560081"/>
            <a:ext cx="793858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Enhance onboarding to highlight privacy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Integrate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community-led discovery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collaborative group tools.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 transparent communication to reinforce brand credibility.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Promote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MeWe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as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ethical, user-controlled evolution of social networking.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Expand into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localized communities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professional groups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retention growth.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767" y="113213"/>
            <a:ext cx="1323702" cy="132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45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177" y="2534194"/>
            <a:ext cx="85417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 smtClean="0">
                <a:latin typeface="Arial Black" panose="020B0A04020102020204" pitchFamily="34" charset="0"/>
              </a:rPr>
              <a:t>THANK YOU……!</a:t>
            </a:r>
            <a:endParaRPr lang="en-IN" sz="7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818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539</TotalTime>
  <Words>1227</Words>
  <Application>Microsoft Office PowerPoint</Application>
  <PresentationFormat>Widescreen</PresentationFormat>
  <Paragraphs>176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Times New Roman</vt:lpstr>
      <vt:lpstr>Office Theme</vt:lpstr>
      <vt:lpstr>PRODUCT ANALYTICS FOR MeWe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Shiraz</dc:creator>
  <cp:lastModifiedBy>Shiraz</cp:lastModifiedBy>
  <cp:revision>28</cp:revision>
  <dcterms:created xsi:type="dcterms:W3CDTF">2026-02-02T16:14:11Z</dcterms:created>
  <dcterms:modified xsi:type="dcterms:W3CDTF">2026-02-06T17:26:40Z</dcterms:modified>
</cp:coreProperties>
</file>